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2" r:id="rId4"/>
    <p:sldId id="258" r:id="rId5"/>
    <p:sldId id="263" r:id="rId6"/>
    <p:sldId id="268" r:id="rId7"/>
    <p:sldId id="259" r:id="rId8"/>
    <p:sldId id="267" r:id="rId9"/>
    <p:sldId id="266" r:id="rId10"/>
    <p:sldId id="269" r:id="rId11"/>
    <p:sldId id="260" r:id="rId12"/>
    <p:sldId id="270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8CC"/>
    <a:srgbClr val="0D0C16"/>
    <a:srgbClr val="14121C"/>
    <a:srgbClr val="0D0C12"/>
    <a:srgbClr val="0A0915"/>
    <a:srgbClr val="06001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28CE5-B226-499C-BD3C-E981A131DC45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3AA95-FC74-4EB0-8DAF-CC8708517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94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радеек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253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радеек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253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021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021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021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52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52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52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яреек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52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криис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3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/>
              <a:t>криис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D3AA95-FC74-4EB0-8DAF-CC87085178D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3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33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44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9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83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60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87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79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04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89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12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1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20D73-3334-4ADB-ADA2-7270C53DE40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69F43-3CFC-4C32-B7FA-11A98509C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50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8090" y="247580"/>
            <a:ext cx="5544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Модель для обнаружения </a:t>
            </a:r>
            <a:endParaRPr lang="en-US" sz="3600" b="1" dirty="0" smtClean="0">
              <a:solidFill>
                <a:schemeClr val="bg1"/>
              </a:solidFill>
            </a:endParaRPr>
          </a:p>
          <a:p>
            <a:r>
              <a:rPr lang="ru-RU" sz="3600" b="1" dirty="0" smtClean="0">
                <a:solidFill>
                  <a:schemeClr val="bg1"/>
                </a:solidFill>
              </a:rPr>
              <a:t>аномалий </a:t>
            </a:r>
            <a:r>
              <a:rPr lang="ru-RU" sz="3600" b="1" dirty="0">
                <a:solidFill>
                  <a:schemeClr val="bg1"/>
                </a:solidFill>
              </a:rPr>
              <a:t>в числовых </a:t>
            </a:r>
            <a:endParaRPr lang="en-US" sz="3600" b="1" dirty="0" smtClean="0">
              <a:solidFill>
                <a:schemeClr val="bg1"/>
              </a:solidFill>
            </a:endParaRPr>
          </a:p>
          <a:p>
            <a:r>
              <a:rPr lang="ru-RU" sz="3600" b="1" dirty="0" smtClean="0">
                <a:solidFill>
                  <a:schemeClr val="bg1"/>
                </a:solidFill>
              </a:rPr>
              <a:t>последовательностях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700" y="2204864"/>
            <a:ext cx="5184576" cy="424390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980727"/>
            <a:ext cx="1475656" cy="288033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392706" y="993794"/>
            <a:ext cx="1751293" cy="288033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06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83568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ГЕНЕРАТОР ДАННЫХ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1484784"/>
            <a:ext cx="89150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&gt; </a:t>
            </a:r>
            <a:r>
              <a:rPr lang="ru-RU" sz="3200" dirty="0" smtClean="0">
                <a:solidFill>
                  <a:schemeClr val="bg1"/>
                </a:solidFill>
              </a:rPr>
              <a:t>Создание </a:t>
            </a:r>
            <a:r>
              <a:rPr lang="ru-RU" sz="3200" dirty="0">
                <a:solidFill>
                  <a:schemeClr val="bg1"/>
                </a:solidFill>
              </a:rPr>
              <a:t>чистого числового </a:t>
            </a:r>
            <a:r>
              <a:rPr lang="ru-RU" sz="3200" dirty="0" smtClean="0">
                <a:solidFill>
                  <a:schemeClr val="bg1"/>
                </a:solidFill>
              </a:rPr>
              <a:t>ряда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&gt; </a:t>
            </a:r>
            <a:r>
              <a:rPr lang="ru-RU" sz="3200" dirty="0" smtClean="0">
                <a:solidFill>
                  <a:schemeClr val="bg1"/>
                </a:solidFill>
              </a:rPr>
              <a:t>Внесение шума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&gt; </a:t>
            </a:r>
            <a:r>
              <a:rPr lang="ru-RU" sz="3200" dirty="0" smtClean="0">
                <a:solidFill>
                  <a:schemeClr val="bg1"/>
                </a:solidFill>
              </a:rPr>
              <a:t>Добавление выбросов</a:t>
            </a:r>
            <a:endParaRPr lang="ru-RU" sz="3200" dirty="0">
              <a:solidFill>
                <a:schemeClr val="bg1"/>
              </a:solidFill>
            </a:endParaRPr>
          </a:p>
          <a:p>
            <a:r>
              <a:rPr lang="en-US" sz="3200" dirty="0" smtClean="0">
                <a:solidFill>
                  <a:schemeClr val="bg1"/>
                </a:solidFill>
              </a:rPr>
              <a:t>&gt; </a:t>
            </a:r>
            <a:r>
              <a:rPr lang="ru-RU" sz="3200" dirty="0" smtClean="0">
                <a:solidFill>
                  <a:schemeClr val="bg1"/>
                </a:solidFill>
              </a:rPr>
              <a:t>Обработка </a:t>
            </a:r>
            <a:r>
              <a:rPr lang="ru-RU" sz="3200" dirty="0">
                <a:solidFill>
                  <a:schemeClr val="bg1"/>
                </a:solidFill>
              </a:rPr>
              <a:t>данных</a:t>
            </a:r>
            <a:r>
              <a:rPr lang="ru-RU" sz="3200" dirty="0" smtClean="0">
                <a:solidFill>
                  <a:schemeClr val="bg1"/>
                </a:solidFill>
              </a:rPr>
              <a:t>.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935" b="47853"/>
          <a:stretch/>
        </p:blipFill>
        <p:spPr>
          <a:xfrm>
            <a:off x="3853723" y="3819676"/>
            <a:ext cx="4750725" cy="25616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65" y="3819675"/>
            <a:ext cx="3024337" cy="25379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511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83568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ГЕНЕРАТОР ДАННЫХ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310982"/>
            <a:ext cx="7776864" cy="52343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531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1560" y="192571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СТАТИСТИЧЕСКИЙ МЕТОД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844824"/>
            <a:ext cx="7087847" cy="47623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458601"/>
            <a:ext cx="3460539" cy="12241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989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1560" y="192571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СТАТИСТИЧЕСКИЙ МЕТОД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15073"/>
            <a:ext cx="5797499" cy="4766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6179" y="3998200"/>
            <a:ext cx="2650317" cy="584775"/>
          </a:xfrm>
          <a:prstGeom prst="rect">
            <a:avLst/>
          </a:prstGeom>
          <a:solidFill>
            <a:srgbClr val="6D68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F1 score: 1</a:t>
            </a:r>
            <a:endParaRPr lang="ru-RU" sz="3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551714" y="3140968"/>
                <a:ext cx="2111475" cy="593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smtClean="0">
                    <a:solidFill>
                      <a:schemeClr val="bg1"/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3200" b="1" smtClean="0">
                            <a:solidFill>
                              <a:schemeClr val="bg1"/>
                            </a:solidFill>
                          </a:rPr>
                        </m:ctrlPr>
                      </m:radPr>
                      <m:deg/>
                      <m:e>
                        <m:r>
                          <a:rPr lang="en-US" sz="3200" b="1" i="0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𝐱</m:t>
                        </m:r>
                      </m:e>
                    </m:rad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+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𝟏</m:t>
                    </m:r>
                  </m:oMath>
                </a14:m>
                <a:endParaRPr lang="ru-RU" sz="3200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14" y="3140968"/>
                <a:ext cx="2111475" cy="593817"/>
              </a:xfrm>
              <a:prstGeom prst="rect">
                <a:avLst/>
              </a:prstGeom>
              <a:blipFill rotWithShape="1">
                <a:blip r:embed="rId4"/>
                <a:stretch>
                  <a:fillRect l="-7514" t="-11224" b="-326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63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1560" y="192571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СТАТИСТИЧЕСКИЙ МЕТОД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4524"/>
            <a:ext cx="5797499" cy="47473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7263" y="3993743"/>
            <a:ext cx="2578309" cy="584775"/>
          </a:xfrm>
          <a:prstGeom prst="rect">
            <a:avLst/>
          </a:prstGeom>
          <a:solidFill>
            <a:srgbClr val="6D68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F1 score: 0.66</a:t>
            </a:r>
            <a:endParaRPr lang="ru-RU" sz="3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444208" y="3140968"/>
                <a:ext cx="25644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smtClean="0">
                    <a:solidFill>
                      <a:schemeClr val="bg1"/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=</m:t>
                    </m:r>
                    <m:func>
                      <m:func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solidFill>
                              <a:schemeClr val="bg1"/>
                            </a:solidFill>
                          </a:rPr>
                          <m:t>𝐜𝐨𝐬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</a:rPr>
                          <m:t>𝒙</m:t>
                        </m:r>
                      </m:e>
                    </m:func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+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𝟏</m:t>
                    </m:r>
                  </m:oMath>
                </a14:m>
                <a:endParaRPr lang="ru-RU" sz="3200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3140968"/>
                <a:ext cx="256442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5938" t="-12500" b="-34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312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124744"/>
            <a:ext cx="9144000" cy="584775"/>
          </a:xfrm>
          <a:prstGeom prst="rect">
            <a:avLst/>
          </a:prstGeom>
          <a:solidFill>
            <a:srgbClr val="0D0C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25540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M</a:t>
            </a:r>
            <a:r>
              <a:rPr lang="en-US" sz="4000" b="1" dirty="0" smtClean="0"/>
              <a:t>ACHINE</a:t>
            </a:r>
            <a:r>
              <a:rPr lang="en-US" sz="4000" b="1" dirty="0" smtClean="0">
                <a:solidFill>
                  <a:schemeClr val="bg1"/>
                </a:solidFill>
              </a:rPr>
              <a:t> L</a:t>
            </a:r>
            <a:r>
              <a:rPr lang="en-US" sz="4000" b="1" dirty="0" smtClean="0"/>
              <a:t>EARNING</a:t>
            </a:r>
            <a:r>
              <a:rPr lang="en-US" sz="4000" b="1" dirty="0" smtClean="0">
                <a:solidFill>
                  <a:schemeClr val="bg1"/>
                </a:solidFill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МЕТОДЫ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540" y="1124744"/>
            <a:ext cx="3392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ISOLATION</a:t>
            </a:r>
            <a:r>
              <a:rPr lang="en-US" sz="3200" b="1" dirty="0" smtClean="0">
                <a:solidFill>
                  <a:srgbClr val="6D68CC"/>
                </a:solidFill>
              </a:rPr>
              <a:t> </a:t>
            </a:r>
            <a:r>
              <a:rPr lang="en-US" sz="3200" b="1" dirty="0" smtClean="0">
                <a:solidFill>
                  <a:schemeClr val="bg1"/>
                </a:solidFill>
              </a:rPr>
              <a:t>FOREST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54" y="2276872"/>
            <a:ext cx="8456318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5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124744"/>
            <a:ext cx="9144000" cy="584775"/>
          </a:xfrm>
          <a:prstGeom prst="rect">
            <a:avLst/>
          </a:prstGeom>
          <a:solidFill>
            <a:srgbClr val="0D0C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25540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M</a:t>
            </a:r>
            <a:r>
              <a:rPr lang="en-US" sz="4000" b="1" dirty="0" smtClean="0"/>
              <a:t>ACHINE</a:t>
            </a:r>
            <a:r>
              <a:rPr lang="en-US" sz="4000" b="1" dirty="0" smtClean="0">
                <a:solidFill>
                  <a:schemeClr val="bg1"/>
                </a:solidFill>
              </a:rPr>
              <a:t> L</a:t>
            </a:r>
            <a:r>
              <a:rPr lang="en-US" sz="4000" b="1" dirty="0" smtClean="0"/>
              <a:t>EARNING</a:t>
            </a:r>
            <a:r>
              <a:rPr lang="en-US" sz="4000" b="1" dirty="0" smtClean="0">
                <a:solidFill>
                  <a:schemeClr val="bg1"/>
                </a:solidFill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МЕТОДЫ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540" y="1124744"/>
            <a:ext cx="3392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ISOLATION</a:t>
            </a:r>
            <a:r>
              <a:rPr lang="en-US" sz="3200" b="1" dirty="0" smtClean="0">
                <a:solidFill>
                  <a:srgbClr val="6D68CC"/>
                </a:solidFill>
              </a:rPr>
              <a:t> </a:t>
            </a:r>
            <a:r>
              <a:rPr lang="en-US" sz="3200" b="1" dirty="0" smtClean="0">
                <a:solidFill>
                  <a:schemeClr val="bg1"/>
                </a:solidFill>
              </a:rPr>
              <a:t>FOREST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45580"/>
            <a:ext cx="5797499" cy="4700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37263" y="4291226"/>
            <a:ext cx="2578309" cy="584775"/>
          </a:xfrm>
          <a:prstGeom prst="rect">
            <a:avLst/>
          </a:prstGeom>
          <a:solidFill>
            <a:srgbClr val="6D68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F1 score: 0.77</a:t>
            </a:r>
            <a:endParaRPr lang="ru-RU" sz="3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444208" y="3438451"/>
                <a:ext cx="25644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smtClean="0">
                    <a:solidFill>
                      <a:schemeClr val="bg1"/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=</m:t>
                    </m:r>
                    <m:func>
                      <m:func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solidFill>
                              <a:schemeClr val="bg1"/>
                            </a:solidFill>
                          </a:rPr>
                          <m:t>𝐜𝐨𝐬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</a:rPr>
                          <m:t>𝒙</m:t>
                        </m:r>
                      </m:e>
                    </m:func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+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𝟏</m:t>
                    </m:r>
                  </m:oMath>
                </a14:m>
                <a:endParaRPr lang="ru-RU" sz="3200" b="1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3438451"/>
                <a:ext cx="256442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5938" t="-12500" b="-34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02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6"/>
          <a:stretch/>
        </p:blipFill>
        <p:spPr>
          <a:xfrm>
            <a:off x="6084168" y="3669594"/>
            <a:ext cx="2929382" cy="76751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1124744"/>
            <a:ext cx="9144000" cy="584775"/>
          </a:xfrm>
          <a:prstGeom prst="rect">
            <a:avLst/>
          </a:prstGeom>
          <a:solidFill>
            <a:srgbClr val="0D0C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25540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M</a:t>
            </a:r>
            <a:r>
              <a:rPr lang="en-US" sz="4000" b="1" dirty="0" smtClean="0"/>
              <a:t>ACHINE</a:t>
            </a:r>
            <a:r>
              <a:rPr lang="en-US" sz="4000" b="1" dirty="0" smtClean="0">
                <a:solidFill>
                  <a:schemeClr val="bg1"/>
                </a:solidFill>
              </a:rPr>
              <a:t> L</a:t>
            </a:r>
            <a:r>
              <a:rPr lang="en-US" sz="4000" b="1" dirty="0" smtClean="0"/>
              <a:t>EARNING</a:t>
            </a:r>
            <a:r>
              <a:rPr lang="en-US" sz="4000" b="1" dirty="0" smtClean="0">
                <a:solidFill>
                  <a:schemeClr val="bg1"/>
                </a:solidFill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МЕТОДЫ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540" y="1124744"/>
            <a:ext cx="4245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LOCAL OUTLIER FACTOR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16832"/>
            <a:ext cx="5328592" cy="39964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437112"/>
            <a:ext cx="3635734" cy="19530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581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124744"/>
            <a:ext cx="9144000" cy="584775"/>
          </a:xfrm>
          <a:prstGeom prst="rect">
            <a:avLst/>
          </a:prstGeom>
          <a:solidFill>
            <a:srgbClr val="0D0C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25540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M</a:t>
            </a:r>
            <a:r>
              <a:rPr lang="en-US" sz="4000" b="1" dirty="0" smtClean="0"/>
              <a:t>ACHINE</a:t>
            </a:r>
            <a:r>
              <a:rPr lang="en-US" sz="4000" b="1" dirty="0" smtClean="0">
                <a:solidFill>
                  <a:schemeClr val="bg1"/>
                </a:solidFill>
              </a:rPr>
              <a:t> L</a:t>
            </a:r>
            <a:r>
              <a:rPr lang="en-US" sz="4000" b="1" dirty="0" smtClean="0"/>
              <a:t>EARNING</a:t>
            </a:r>
            <a:r>
              <a:rPr lang="en-US" sz="4000" b="1" dirty="0" smtClean="0">
                <a:solidFill>
                  <a:schemeClr val="bg1"/>
                </a:solidFill>
              </a:rPr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МЕТОДЫ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5540" y="1124744"/>
            <a:ext cx="4245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LOCAL OUTLIER FACTOR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26" y="1945580"/>
            <a:ext cx="5772334" cy="47002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37263" y="4291226"/>
            <a:ext cx="2578309" cy="584775"/>
          </a:xfrm>
          <a:prstGeom prst="rect">
            <a:avLst/>
          </a:prstGeom>
          <a:solidFill>
            <a:srgbClr val="6D68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F1 score: 1</a:t>
            </a:r>
            <a:endParaRPr lang="ru-RU" sz="3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444208" y="3438451"/>
                <a:ext cx="256442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smtClean="0">
                    <a:solidFill>
                      <a:schemeClr val="bg1"/>
                    </a:solidFill>
                  </a:rPr>
                  <a:t>y </a:t>
                </a:r>
                <a14:m>
                  <m:oMath xmlns:m="http://schemas.openxmlformats.org/officeDocument/2006/math"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=</m:t>
                    </m:r>
                    <m:func>
                      <m:funcPr>
                        <m:ctrlPr>
                          <a:rPr lang="en-US" sz="3200" b="1" i="1" smtClean="0">
                            <a:solidFill>
                              <a:schemeClr val="bg1"/>
                            </a:solidFill>
                          </a:rPr>
                        </m:ctrlPr>
                      </m:funcPr>
                      <m:fName>
                        <m:r>
                          <a:rPr lang="en-US" sz="3200" b="1" i="0" smtClean="0">
                            <a:solidFill>
                              <a:schemeClr val="bg1"/>
                            </a:solidFill>
                          </a:rPr>
                          <m:t>𝐜𝐨𝐬</m:t>
                        </m:r>
                      </m:fName>
                      <m:e>
                        <m:r>
                          <a:rPr lang="en-US" sz="3200" b="1" i="1" smtClean="0">
                            <a:solidFill>
                              <a:schemeClr val="bg1"/>
                            </a:solidFill>
                          </a:rPr>
                          <m:t>𝒙</m:t>
                        </m:r>
                      </m:e>
                    </m:func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+</m:t>
                    </m:r>
                    <m:r>
                      <a:rPr lang="en-US" sz="3200" b="1" i="0" smtClean="0">
                        <a:solidFill>
                          <a:schemeClr val="bg1"/>
                        </a:solidFill>
                      </a:rPr>
                      <m:t>𝟏</m:t>
                    </m:r>
                  </m:oMath>
                </a14:m>
                <a:endParaRPr lang="ru-RU" sz="3200" b="1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208" y="3438451"/>
                <a:ext cx="256442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5938" t="-12500" b="-34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54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1560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ПОЛЬЗОВАТЕЛЬСКИЙ ИНТЕРФЕЙС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"/>
          <a:stretch/>
        </p:blipFill>
        <p:spPr>
          <a:xfrm>
            <a:off x="733158" y="1606393"/>
            <a:ext cx="7799282" cy="482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2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9144000" cy="1124744"/>
          </a:xfrm>
          <a:prstGeom prst="rect">
            <a:avLst/>
          </a:prstGeom>
          <a:solidFill>
            <a:srgbClr val="6D68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1560" y="208429"/>
            <a:ext cx="8915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</a:rPr>
              <a:t>ПОЛЬЗОВАТЕЛЬСКИЙ ИНТЕРФЕЙС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1484784"/>
            <a:ext cx="84969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6D68CC"/>
                </a:solidFill>
              </a:rPr>
              <a:t>&gt;</a:t>
            </a:r>
            <a:r>
              <a:rPr lang="en-US" sz="3200" dirty="0" smtClean="0">
                <a:solidFill>
                  <a:schemeClr val="bg1"/>
                </a:solidFill>
              </a:rPr>
              <a:t> </a:t>
            </a:r>
            <a:r>
              <a:rPr lang="ru-RU" sz="3200" dirty="0" smtClean="0">
                <a:solidFill>
                  <a:schemeClr val="bg1"/>
                </a:solidFill>
              </a:rPr>
              <a:t>Детальная настройка параметров функции, шума и выбросов</a:t>
            </a:r>
          </a:p>
          <a:p>
            <a:r>
              <a:rPr lang="ru-RU" sz="32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 smtClean="0">
                <a:solidFill>
                  <a:srgbClr val="6D68CC"/>
                </a:solidFill>
              </a:rPr>
              <a:t>&gt;</a:t>
            </a:r>
            <a:r>
              <a:rPr lang="en-US" sz="3200" dirty="0" smtClean="0">
                <a:solidFill>
                  <a:schemeClr val="bg1"/>
                </a:solidFill>
              </a:rPr>
              <a:t> </a:t>
            </a:r>
            <a:r>
              <a:rPr lang="ru-RU" sz="3200" dirty="0" smtClean="0">
                <a:solidFill>
                  <a:schemeClr val="bg1"/>
                </a:solidFill>
              </a:rPr>
              <a:t>Разными цветами выделяются на графике аномальные точки: сгенерированные, найденные статистическим и </a:t>
            </a:r>
            <a:r>
              <a:rPr lang="en-US" sz="3200" dirty="0" smtClean="0">
                <a:solidFill>
                  <a:schemeClr val="bg1"/>
                </a:solidFill>
              </a:rPr>
              <a:t>ML </a:t>
            </a:r>
            <a:r>
              <a:rPr lang="ru-RU" sz="3200" dirty="0" smtClean="0">
                <a:solidFill>
                  <a:schemeClr val="bg1"/>
                </a:solidFill>
              </a:rPr>
              <a:t>методами.</a:t>
            </a:r>
          </a:p>
          <a:p>
            <a:endParaRPr lang="ru-RU" sz="3200" dirty="0" smtClean="0">
              <a:solidFill>
                <a:schemeClr val="bg1"/>
              </a:solidFill>
            </a:endParaRPr>
          </a:p>
          <a:p>
            <a:r>
              <a:rPr lang="en-US" sz="3200" dirty="0" smtClean="0">
                <a:solidFill>
                  <a:srgbClr val="6D68CC"/>
                </a:solidFill>
              </a:rPr>
              <a:t>&gt;</a:t>
            </a:r>
            <a:r>
              <a:rPr lang="en-US" sz="3200" dirty="0" smtClean="0">
                <a:solidFill>
                  <a:schemeClr val="bg1"/>
                </a:solidFill>
              </a:rPr>
              <a:t> </a:t>
            </a:r>
            <a:r>
              <a:rPr lang="ru-RU" sz="3200" dirty="0" smtClean="0">
                <a:solidFill>
                  <a:schemeClr val="bg1"/>
                </a:solidFill>
              </a:rPr>
              <a:t>Отображается сама функция и </a:t>
            </a:r>
            <a:r>
              <a:rPr lang="en-US" sz="3200" dirty="0" smtClean="0">
                <a:solidFill>
                  <a:schemeClr val="bg1"/>
                </a:solidFill>
              </a:rPr>
              <a:t>F1</a:t>
            </a:r>
            <a:r>
              <a:rPr lang="ru-RU" sz="3200" dirty="0">
                <a:solidFill>
                  <a:schemeClr val="bg1"/>
                </a:solidFill>
              </a:rPr>
              <a:t> </a:t>
            </a:r>
            <a:r>
              <a:rPr lang="ru-RU" sz="3200" dirty="0" smtClean="0">
                <a:solidFill>
                  <a:schemeClr val="bg1"/>
                </a:solidFill>
              </a:rPr>
              <a:t>мера применённого метода.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47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2710</TotalTime>
  <Words>159</Words>
  <Application>Microsoft Office PowerPoint</Application>
  <PresentationFormat>Экран (4:3)</PresentationFormat>
  <Paragraphs>57</Paragraphs>
  <Slides>12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Кристина Кудрина</dc:creator>
  <cp:lastModifiedBy>Кристина Кудрина</cp:lastModifiedBy>
  <cp:revision>20</cp:revision>
  <dcterms:created xsi:type="dcterms:W3CDTF">2026-05-10T11:59:21Z</dcterms:created>
  <dcterms:modified xsi:type="dcterms:W3CDTF">2026-05-18T11:04:28Z</dcterms:modified>
</cp:coreProperties>
</file>